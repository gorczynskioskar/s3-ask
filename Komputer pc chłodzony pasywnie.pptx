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90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6533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255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268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3954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604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210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7945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08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874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421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28CBA76-CF09-48D6-87F9-BA14472591B1}" type="datetimeFigureOut">
              <a:rPr lang="pl-PL" smtClean="0"/>
              <a:t>12.10.2025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CD7A0E4-79D6-4757-8262-15BF911BDDEA}" type="slidenum">
              <a:rPr lang="pl-PL" smtClean="0"/>
              <a:t>‹#›</a:t>
            </a:fld>
            <a:endParaRPr lang="pl-PL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463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pubenchmark.net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B43132-E487-01EA-AF82-3ABC2A23A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659" y="950093"/>
            <a:ext cx="10993549" cy="1475013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chłodzony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pasywnie</a:t>
            </a:r>
            <a:endParaRPr lang="pl-P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215E636-15AC-F1F2-95FF-F48C443A7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659" y="2425106"/>
            <a:ext cx="10993546" cy="59032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Górczyński Oskar, 57785</a:t>
            </a:r>
            <a:endParaRPr lang="pl-P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398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01737EAB-ABCE-105A-A577-217774353005}"/>
              </a:ext>
            </a:extLst>
          </p:cNvPr>
          <p:cNvSpPr txBox="1"/>
          <p:nvPr/>
        </p:nvSpPr>
        <p:spPr>
          <a:xfrm>
            <a:off x="5043468" y="0"/>
            <a:ext cx="2105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Cel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projektu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AC54E14-539B-836C-5557-74EBD6CA3CEF}"/>
              </a:ext>
            </a:extLst>
          </p:cNvPr>
          <p:cNvSpPr txBox="1"/>
          <p:nvPr/>
        </p:nvSpPr>
        <p:spPr>
          <a:xfrm>
            <a:off x="422031" y="773723"/>
            <a:ext cx="1137473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Zaprojektować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przy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użyciu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gotowych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32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klasy</a:t>
            </a:r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PC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spełniający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poniższe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wymagania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całkowicie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bezgłośna</a:t>
            </a:r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praca</a:t>
            </a:r>
            <a:r>
              <a:rPr lang="en-US" sz="32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przy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pełnym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obciążeniu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procesora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wykorzystanie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pasywnego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chłodzenia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osiągnięcie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maksymalnej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możliwej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wydajności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obliczeń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wykorzystując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procesor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CPU (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ogólnego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przeznaczenia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) z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pominięciem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wymaganie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wsparcia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procesora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kartą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graficzną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Pasywne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chłodzenie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bierne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odprowadzanie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ciepła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z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elementów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komputera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PC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pozwalające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zrezygnowanie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z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wentylatorów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przez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bezgłośną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pracę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komputera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201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49D540D-3957-55F6-E84A-3F4844111D54}"/>
              </a:ext>
            </a:extLst>
          </p:cNvPr>
          <p:cNvSpPr txBox="1"/>
          <p:nvPr/>
        </p:nvSpPr>
        <p:spPr>
          <a:xfrm>
            <a:off x="4417817" y="0"/>
            <a:ext cx="334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projektowy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38D8932-33A1-26D9-2933-96DF41490DA5}"/>
              </a:ext>
            </a:extLst>
          </p:cNvPr>
          <p:cNvSpPr txBox="1"/>
          <p:nvPr/>
        </p:nvSpPr>
        <p:spPr>
          <a:xfrm>
            <a:off x="432079" y="713433"/>
            <a:ext cx="113144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Oba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wymagania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naszego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PC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niestety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sprzeczne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Wraz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ze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wzrostem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wydajności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komputera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rośnie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jego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zapotrzebowanie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energię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co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wiąże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ze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zwiększoną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potrzebą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odprowadzania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ciepła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Rozwiązania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typu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rynku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cieszą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małą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podażą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a co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z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tym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wiąże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dużej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ich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dostępności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Komputery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oferowane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głównie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zastosowań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biznesowych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które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wymagają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dużej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mocy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obliczeniowej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Dodatkowo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komputery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pomimo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mało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zadowalającej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specyfikacji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najzwyczajniej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świecie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drogie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dlatego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zamiast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korzystać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z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gotowych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rozwiązań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postaramy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się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zaprojektować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własne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urządzenie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zgodne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z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naszymi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potrzebami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35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13464C9D-A1D6-090C-31FF-B18556F8CCEC}"/>
              </a:ext>
            </a:extLst>
          </p:cNvPr>
          <p:cNvSpPr txBox="1"/>
          <p:nvPr/>
        </p:nvSpPr>
        <p:spPr>
          <a:xfrm>
            <a:off x="2157099" y="0"/>
            <a:ext cx="8202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Elementy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składowe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współczesnego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komputera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PC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1928614-869A-33E1-E4CE-08AD689404D1}"/>
              </a:ext>
            </a:extLst>
          </p:cNvPr>
          <p:cNvSpPr txBox="1"/>
          <p:nvPr/>
        </p:nvSpPr>
        <p:spPr>
          <a:xfrm>
            <a:off x="442452" y="1443841"/>
            <a:ext cx="116315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Współczesny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komputer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PC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powinien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zawierać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następujące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komponenty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płyta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główna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(z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wbudowaną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kartą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dźwiękową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oraz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sieciową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procesor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wielordzeniowy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wraz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ze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zintegrowaną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kartą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graficzną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system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chłodzący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procesor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pamięć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zasilacz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obudowa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pamięć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masowa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(w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postaci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dysku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SSD)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urządzenia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peryferyjne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klawiatura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mysz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65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AC92A-6DBB-BDC6-EB7E-256FD1D1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CC376706-C166-640F-74D0-E015770CBC57}"/>
              </a:ext>
            </a:extLst>
          </p:cNvPr>
          <p:cNvSpPr txBox="1"/>
          <p:nvPr/>
        </p:nvSpPr>
        <p:spPr>
          <a:xfrm>
            <a:off x="2518325" y="0"/>
            <a:ext cx="7391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pierwszy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1DD9ED8-AEE2-0B10-6E92-55D2BF5C6928}"/>
              </a:ext>
            </a:extLst>
          </p:cNvPr>
          <p:cNvSpPr txBox="1"/>
          <p:nvPr/>
        </p:nvSpPr>
        <p:spPr>
          <a:xfrm>
            <a:off x="452174" y="1443841"/>
            <a:ext cx="115235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Zaczniemy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od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doboru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które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generują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znaczących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problemów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termicznych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pamięć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masowa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dysk</a:t>
            </a:r>
            <a:r>
              <a:rPr lang="en-US" sz="28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SSD 1 TB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około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pamięć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 16 GB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urządzenia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peryferyjne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klawiatura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mysz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dowolnej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marki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51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63D0-11C1-D222-49DD-09B2704A4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CDCDF54-9BF6-5A38-6DD5-4BE861840852}"/>
              </a:ext>
            </a:extLst>
          </p:cNvPr>
          <p:cNvSpPr txBox="1"/>
          <p:nvPr/>
        </p:nvSpPr>
        <p:spPr>
          <a:xfrm>
            <a:off x="2405310" y="0"/>
            <a:ext cx="7381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pierwszy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3072314-6298-173A-86A6-2D4B5297BE6A}"/>
              </a:ext>
            </a:extLst>
          </p:cNvPr>
          <p:cNvSpPr txBox="1"/>
          <p:nvPr/>
        </p:nvSpPr>
        <p:spPr>
          <a:xfrm>
            <a:off x="412955" y="1052052"/>
            <a:ext cx="55945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Dysk KINGSTON NV3 1TB SSD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PCI Express 4.0 x4 </a:t>
            </a:r>
            <a:r>
              <a:rPr lang="pl-PL" sz="2800" dirty="0" err="1">
                <a:latin typeface="Arial" panose="020B0604020202020204" pitchFamily="34" charset="0"/>
                <a:cs typeface="Arial" panose="020B0604020202020204" pitchFamily="34" charset="0"/>
              </a:rPr>
              <a:t>NVMe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Cena 239 </a:t>
            </a:r>
            <a:r>
              <a:rPr lang="en-US" sz="28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zł</a:t>
            </a:r>
            <a:endParaRPr lang="pl-PL" sz="28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758EB4-4B0F-6F02-86BA-694C54839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27" y="3144969"/>
            <a:ext cx="7971692" cy="241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882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4CD7-D4AF-E0AE-8D07-B4691EF84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7396ABC-C728-717C-0CBE-AAD1543A1BD8}"/>
              </a:ext>
            </a:extLst>
          </p:cNvPr>
          <p:cNvSpPr txBox="1"/>
          <p:nvPr/>
        </p:nvSpPr>
        <p:spPr>
          <a:xfrm>
            <a:off x="2400394" y="0"/>
            <a:ext cx="7391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pierwszy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DA390D5-1FBC-D175-D47B-26E6CE719C2A}"/>
              </a:ext>
            </a:extLst>
          </p:cNvPr>
          <p:cNvSpPr txBox="1"/>
          <p:nvPr/>
        </p:nvSpPr>
        <p:spPr>
          <a:xfrm>
            <a:off x="412955" y="1052052"/>
            <a:ext cx="55945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Pamięć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RAM Kingston FURY 16GB (2x8GB) 5600MHz CL36 Beast Black EXPO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Cena 289 </a:t>
            </a:r>
            <a:r>
              <a:rPr lang="en-US" sz="2800" dirty="0" err="1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zł</a:t>
            </a:r>
            <a:endParaRPr lang="pl-PL" sz="28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9EEDE9-3D65-8F94-218E-AF91CDF02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211" y="1461292"/>
            <a:ext cx="6252975" cy="521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8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34206-985D-651F-DE17-1F8AD756C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FCC06B90-521F-FF05-BA27-7AD7FB2DCC84}"/>
              </a:ext>
            </a:extLst>
          </p:cNvPr>
          <p:cNvSpPr txBox="1"/>
          <p:nvPr/>
        </p:nvSpPr>
        <p:spPr>
          <a:xfrm>
            <a:off x="1699771" y="0"/>
            <a:ext cx="9480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drugi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dobór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obudowy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B7922EF-002E-7767-802F-57D0830F6153}"/>
              </a:ext>
            </a:extLst>
          </p:cNvPr>
          <p:cNvSpPr txBox="1"/>
          <p:nvPr/>
        </p:nvSpPr>
        <p:spPr>
          <a:xfrm>
            <a:off x="337656" y="1030404"/>
            <a:ext cx="63187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Obudowa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ENDORFY </a:t>
            </a:r>
            <a:r>
              <a:rPr lang="pl-PL" sz="2800" dirty="0" err="1">
                <a:latin typeface="Arial" panose="020B0604020202020204" pitchFamily="34" charset="0"/>
                <a:cs typeface="Arial" panose="020B0604020202020204" pitchFamily="34" charset="0"/>
              </a:rPr>
              <a:t>Ventum</a:t>
            </a:r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 200 </a:t>
            </a:r>
            <a:r>
              <a:rPr lang="pl-PL" sz="2800" dirty="0" err="1">
                <a:latin typeface="Arial" panose="020B0604020202020204" pitchFamily="34" charset="0"/>
                <a:cs typeface="Arial" panose="020B0604020202020204" pitchFamily="34" charset="0"/>
              </a:rPr>
              <a:t>Air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Cena 279 </a:t>
            </a:r>
            <a:r>
              <a:rPr lang="en-US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zł</a:t>
            </a:r>
            <a:endParaRPr lang="pl-PL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Czarna obudowa komputerowa z przezroczystym panelem bocznym i siatkowym frontem, ukazująca wnętrze z miejscem na komponenty oraz wentylator z tyłu. Na dolnej części panelu bocznego widoczne jest logo producenta.">
            <a:extLst>
              <a:ext uri="{FF2B5EF4-FFF2-40B4-BE49-F238E27FC236}">
                <a16:creationId xmlns:a16="http://schemas.microsoft.com/office/drawing/2014/main" id="{5A024EB7-9A74-FA79-C5DE-4501FC458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129" y="698808"/>
            <a:ext cx="4949017" cy="591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22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6E8F9-3D79-9962-72EC-B3AC46E18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3CA60C0-34FF-F80C-0B50-E205646BA266}"/>
              </a:ext>
            </a:extLst>
          </p:cNvPr>
          <p:cNvSpPr txBox="1"/>
          <p:nvPr/>
        </p:nvSpPr>
        <p:spPr>
          <a:xfrm>
            <a:off x="1680107" y="0"/>
            <a:ext cx="9520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trzeci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dobór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zasilacza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5045F79-0875-EB5A-C5C1-153970A68712}"/>
              </a:ext>
            </a:extLst>
          </p:cNvPr>
          <p:cNvSpPr txBox="1"/>
          <p:nvPr/>
        </p:nvSpPr>
        <p:spPr>
          <a:xfrm>
            <a:off x="298327" y="1030404"/>
            <a:ext cx="61024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Zasilacz </a:t>
            </a:r>
            <a:r>
              <a:rPr lang="pl-PL" sz="2800" dirty="0" err="1">
                <a:latin typeface="Arial" panose="020B0604020202020204" pitchFamily="34" charset="0"/>
                <a:cs typeface="Arial" panose="020B0604020202020204" pitchFamily="34" charset="0"/>
              </a:rPr>
              <a:t>SeaSonic</a:t>
            </a:r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800" dirty="0" err="1">
                <a:latin typeface="Arial" panose="020B0604020202020204" pitchFamily="34" charset="0"/>
                <a:cs typeface="Arial" panose="020B0604020202020204" pitchFamily="34" charset="0"/>
              </a:rPr>
              <a:t>Prime</a:t>
            </a:r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800" dirty="0" err="1">
                <a:latin typeface="Arial" panose="020B0604020202020204" pitchFamily="34" charset="0"/>
                <a:cs typeface="Arial" panose="020B0604020202020204" pitchFamily="34" charset="0"/>
              </a:rPr>
              <a:t>Fanless</a:t>
            </a:r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 PX-500 500W</a:t>
            </a:r>
          </a:p>
          <a:p>
            <a:b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Cena 843,25 </a:t>
            </a:r>
            <a:r>
              <a:rPr lang="en-US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zł</a:t>
            </a:r>
            <a:endParaRPr lang="pl-PL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AD8500B4-B12F-9447-CE45-CE2BBB4E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160" y="1562100"/>
            <a:ext cx="66675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92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841E9-98C2-6868-5F82-A5077040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35F5FC0B-8764-84BF-EFD7-A9C05A50CFC1}"/>
              </a:ext>
            </a:extLst>
          </p:cNvPr>
          <p:cNvSpPr txBox="1"/>
          <p:nvPr/>
        </p:nvSpPr>
        <p:spPr>
          <a:xfrm>
            <a:off x="1032024" y="-66461"/>
            <a:ext cx="10118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czwarty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dobór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procesora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2255769-6360-A33D-3F16-DB2E215BD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387272"/>
              </p:ext>
            </p:extLst>
          </p:nvPr>
        </p:nvGraphicFramePr>
        <p:xfrm>
          <a:off x="143886" y="609599"/>
          <a:ext cx="11894392" cy="5976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1444">
                  <a:extLst>
                    <a:ext uri="{9D8B030D-6E8A-4147-A177-3AD203B41FA5}">
                      <a16:colId xmlns:a16="http://schemas.microsoft.com/office/drawing/2014/main" val="2350372009"/>
                    </a:ext>
                  </a:extLst>
                </a:gridCol>
                <a:gridCol w="2824316">
                  <a:extLst>
                    <a:ext uri="{9D8B030D-6E8A-4147-A177-3AD203B41FA5}">
                      <a16:colId xmlns:a16="http://schemas.microsoft.com/office/drawing/2014/main" val="507952763"/>
                    </a:ext>
                  </a:extLst>
                </a:gridCol>
                <a:gridCol w="2824316">
                  <a:extLst>
                    <a:ext uri="{9D8B030D-6E8A-4147-A177-3AD203B41FA5}">
                      <a16:colId xmlns:a16="http://schemas.microsoft.com/office/drawing/2014/main" val="557006924"/>
                    </a:ext>
                  </a:extLst>
                </a:gridCol>
                <a:gridCol w="2824316">
                  <a:extLst>
                    <a:ext uri="{9D8B030D-6E8A-4147-A177-3AD203B41FA5}">
                      <a16:colId xmlns:a16="http://schemas.microsoft.com/office/drawing/2014/main" val="1888744997"/>
                    </a:ext>
                  </a:extLst>
                </a:gridCol>
              </a:tblGrid>
              <a:tr h="463593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Procesor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Intel </a:t>
                      </a:r>
                      <a:r>
                        <a:rPr lang="pl-PL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Core</a:t>
                      </a:r>
                      <a:r>
                        <a:rPr lang="pl-PL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i5-14600K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AMD </a:t>
                      </a:r>
                      <a:r>
                        <a:rPr lang="pl-PL" sz="18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Ryzen</a:t>
                      </a:r>
                      <a:r>
                        <a:rPr lang="pl-PL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5 9600</a:t>
                      </a:r>
                      <a:r>
                        <a:rPr 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endParaRPr lang="pl-PL" sz="1800" b="0" i="0" u="none" strike="noStrike" kern="1200" dirty="0">
                        <a:solidFill>
                          <a:schemeClr val="lt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Intel Core Ultra 5 225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202161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Moc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 W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 W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 W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905184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Technologia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nm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nm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nm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672855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Częstotliwość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3.5/5.3 GHz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3.9/5.4 GHz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2.7/4.9 GHz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090530"/>
                  </a:ext>
                </a:extLst>
              </a:tr>
              <a:tr h="876937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Wydajność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  <a:hlinkClick r:id="rId2"/>
                        </a:rPr>
                        <a:t>https://www.cpubenchmark.net/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38666/4274</a:t>
                      </a:r>
                      <a:endParaRPr lang="pl-PL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30018/4569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31160/4431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915144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Liczba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rdzeni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779739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Liczba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wątków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918050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L1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dane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x 48 KB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x 48 KB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x 48 KB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196379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L1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instrukcje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x 32 KB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x 32 KB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x 64 KB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010496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L2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x 2048 KB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x 1024 KB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x 3072 KB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09053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L3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 MB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MB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 MB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24830"/>
                  </a:ext>
                </a:extLst>
              </a:tr>
              <a:tr h="46359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Cena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849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zł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849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zł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699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zł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84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574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4569-4B45-CC4C-9145-72059692B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AC95F52E-7A2C-B1C4-5336-A0D06699BCE2}"/>
              </a:ext>
            </a:extLst>
          </p:cNvPr>
          <p:cNvSpPr txBox="1"/>
          <p:nvPr/>
        </p:nvSpPr>
        <p:spPr>
          <a:xfrm>
            <a:off x="1142157" y="0"/>
            <a:ext cx="9970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czwarty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dobór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procesora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15D0690-551D-6222-EFEF-BBD904845B13}"/>
              </a:ext>
            </a:extLst>
          </p:cNvPr>
          <p:cNvSpPr txBox="1"/>
          <p:nvPr/>
        </p:nvSpPr>
        <p:spPr>
          <a:xfrm>
            <a:off x="3233531" y="1053548"/>
            <a:ext cx="5632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rial" panose="020B0604020202020204" pitchFamily="34" charset="0"/>
                <a:cs typeface="Arial" panose="020B0604020202020204" pitchFamily="34" charset="0"/>
              </a:rPr>
              <a:t>Intel Core Ultra 5 225 2.7/4.9 GHz</a:t>
            </a:r>
          </a:p>
          <a:p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69F326E-2F27-25C8-8791-5B32347F0ACC}"/>
              </a:ext>
            </a:extLst>
          </p:cNvPr>
          <p:cNvSpPr txBox="1"/>
          <p:nvPr/>
        </p:nvSpPr>
        <p:spPr>
          <a:xfrm>
            <a:off x="5080553" y="2007655"/>
            <a:ext cx="1938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Tryb</a:t>
            </a:r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turbo:</a:t>
            </a:r>
            <a:endParaRPr lang="pl-PL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6DEE5E4-FC7A-CED7-D96F-DD931147D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473859"/>
              </p:ext>
            </p:extLst>
          </p:nvPr>
        </p:nvGraphicFramePr>
        <p:xfrm>
          <a:off x="377688" y="2683564"/>
          <a:ext cx="11499573" cy="3876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3191">
                  <a:extLst>
                    <a:ext uri="{9D8B030D-6E8A-4147-A177-3AD203B41FA5}">
                      <a16:colId xmlns:a16="http://schemas.microsoft.com/office/drawing/2014/main" val="2064409201"/>
                    </a:ext>
                  </a:extLst>
                </a:gridCol>
                <a:gridCol w="3833191">
                  <a:extLst>
                    <a:ext uri="{9D8B030D-6E8A-4147-A177-3AD203B41FA5}">
                      <a16:colId xmlns:a16="http://schemas.microsoft.com/office/drawing/2014/main" val="47749389"/>
                    </a:ext>
                  </a:extLst>
                </a:gridCol>
                <a:gridCol w="3833191">
                  <a:extLst>
                    <a:ext uri="{9D8B030D-6E8A-4147-A177-3AD203B41FA5}">
                      <a16:colId xmlns:a16="http://schemas.microsoft.com/office/drawing/2014/main" val="2067308986"/>
                    </a:ext>
                  </a:extLst>
                </a:gridCol>
              </a:tblGrid>
              <a:tr h="775252">
                <a:tc rowSpan="5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Liczba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obciążonych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rdzeni</a:t>
                      </a:r>
                      <a:endParaRPr lang="pl-PL" sz="2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Częstotliwość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[GHz]</a:t>
                      </a:r>
                      <a:endParaRPr lang="pl-PL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304286"/>
                  </a:ext>
                </a:extLst>
              </a:tr>
              <a:tr h="775252">
                <a:tc v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pl-PL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622847"/>
                  </a:ext>
                </a:extLst>
              </a:tr>
              <a:tr h="775252">
                <a:tc v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176564"/>
                  </a:ext>
                </a:extLst>
              </a:tr>
              <a:tr h="775252">
                <a:tc v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803468"/>
                  </a:ext>
                </a:extLst>
              </a:tr>
              <a:tr h="775252">
                <a:tc vMerge="1"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447225"/>
                  </a:ext>
                </a:extLst>
              </a:tr>
            </a:tbl>
          </a:graphicData>
        </a:graphic>
      </p:graphicFrame>
      <p:pic>
        <p:nvPicPr>
          <p:cNvPr id="10" name="Obraz 9" descr="Obraz zawierający tekst, książka, Marka, logo&#10;&#10;Zawartość wygenerowana przez AI może być niepoprawna.">
            <a:extLst>
              <a:ext uri="{FF2B5EF4-FFF2-40B4-BE49-F238E27FC236}">
                <a16:creationId xmlns:a16="http://schemas.microsoft.com/office/drawing/2014/main" id="{BA1AE4E3-4D6C-3781-C544-C3404A4D8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80" y="2683564"/>
            <a:ext cx="3517964" cy="386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79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35301-0A44-740A-505E-F6D72712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7F760E68-AA74-E1E9-3D46-9F24526FFC2F}"/>
              </a:ext>
            </a:extLst>
          </p:cNvPr>
          <p:cNvSpPr txBox="1"/>
          <p:nvPr/>
        </p:nvSpPr>
        <p:spPr>
          <a:xfrm>
            <a:off x="954056" y="0"/>
            <a:ext cx="10346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piąty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chłodzenie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procesora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3A44DBC-515A-1AD8-4EF4-086FB3A3BC1F}"/>
              </a:ext>
            </a:extLst>
          </p:cNvPr>
          <p:cNvSpPr txBox="1"/>
          <p:nvPr/>
        </p:nvSpPr>
        <p:spPr>
          <a:xfrm>
            <a:off x="521541" y="1111045"/>
            <a:ext cx="67252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Radiator </a:t>
            </a:r>
            <a:r>
              <a:rPr lang="pl-PL" sz="2800" dirty="0" err="1">
                <a:latin typeface="Arial" panose="020B0604020202020204" pitchFamily="34" charset="0"/>
                <a:cs typeface="Arial" panose="020B0604020202020204" pitchFamily="34" charset="0"/>
              </a:rPr>
              <a:t>Noctua</a:t>
            </a:r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 NH-P1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Waga: 1180g</a:t>
            </a:r>
          </a:p>
          <a:p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Cena 513,90 </a:t>
            </a:r>
            <a:r>
              <a:rPr lang="en-US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zł</a:t>
            </a:r>
            <a:endParaRPr lang="pl-PL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2322C5D6-65BF-A0A4-E38C-E3D1CE397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102" y="1111045"/>
            <a:ext cx="5590966" cy="565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50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78A0B-FA22-3E79-8544-CC0F6940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715E40A-A911-BF81-2D81-9CFD314EC942}"/>
              </a:ext>
            </a:extLst>
          </p:cNvPr>
          <p:cNvSpPr txBox="1"/>
          <p:nvPr/>
        </p:nvSpPr>
        <p:spPr>
          <a:xfrm>
            <a:off x="954056" y="0"/>
            <a:ext cx="10346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piąty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chłodzenie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procesora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C836534-9795-7F33-183C-BCD5E7CF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894" y="754560"/>
            <a:ext cx="6609754" cy="5651263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90E1B589-0C75-F35D-657F-90CAC05744DF}"/>
              </a:ext>
            </a:extLst>
          </p:cNvPr>
          <p:cNvSpPr txBox="1"/>
          <p:nvPr/>
        </p:nvSpPr>
        <p:spPr>
          <a:xfrm>
            <a:off x="411982" y="924448"/>
            <a:ext cx="46624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Pasta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termoprzewodząca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THERMAL GRIZZLY Aeronaut 1g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Cena 29,99 </a:t>
            </a:r>
            <a:r>
              <a:rPr lang="en-US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zł</a:t>
            </a:r>
            <a:endParaRPr lang="pl-PL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E698566-C4B6-94DE-4DE7-77D2C92E3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52" y="3429000"/>
            <a:ext cx="4877637" cy="238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40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003AA-A4AF-09E0-17CD-5EA319C1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37EEC1A7-E735-6F7E-4320-7122A41FCC1D}"/>
              </a:ext>
            </a:extLst>
          </p:cNvPr>
          <p:cNvSpPr txBox="1"/>
          <p:nvPr/>
        </p:nvSpPr>
        <p:spPr>
          <a:xfrm>
            <a:off x="1513683" y="0"/>
            <a:ext cx="9164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Kompletowanie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podzespołów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krok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szósty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płyta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główna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43C3DDB-AEDB-311B-5B8B-C7539ED79E98}"/>
              </a:ext>
            </a:extLst>
          </p:cNvPr>
          <p:cNvSpPr txBox="1"/>
          <p:nvPr/>
        </p:nvSpPr>
        <p:spPr>
          <a:xfrm>
            <a:off x="411982" y="924448"/>
            <a:ext cx="46624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Płyta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główna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GIGABYTE B860M DS3H </a:t>
            </a:r>
            <a:r>
              <a:rPr lang="pl-PL" sz="2800" dirty="0" err="1">
                <a:latin typeface="Arial" panose="020B0604020202020204" pitchFamily="34" charset="0"/>
                <a:cs typeface="Arial" panose="020B0604020202020204" pitchFamily="34" charset="0"/>
              </a:rPr>
              <a:t>WiFi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Cena 649 </a:t>
            </a:r>
            <a:r>
              <a:rPr lang="en-US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zł</a:t>
            </a:r>
            <a:endParaRPr lang="pl-PL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C832BB58-3396-AFCA-00E4-955F3F522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776" y="1418368"/>
            <a:ext cx="7980354" cy="453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99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CA3F1BC5-9C48-1AF0-ACC3-2B4A4D1C4B52}"/>
              </a:ext>
            </a:extLst>
          </p:cNvPr>
          <p:cNvSpPr txBox="1"/>
          <p:nvPr/>
        </p:nvSpPr>
        <p:spPr>
          <a:xfrm>
            <a:off x="4837471" y="0"/>
            <a:ext cx="2517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Koszt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zestawu</a:t>
            </a:r>
            <a:endParaRPr lang="pl-PL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D6D94E7-5E7F-EB5A-018F-A65517121CD4}"/>
              </a:ext>
            </a:extLst>
          </p:cNvPr>
          <p:cNvSpPr txBox="1"/>
          <p:nvPr/>
        </p:nvSpPr>
        <p:spPr>
          <a:xfrm>
            <a:off x="688258" y="2762865"/>
            <a:ext cx="108154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Cena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końcowa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zestawu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(z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pominięciem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montażu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oraz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aktywacji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systemu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wynosi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3542,14 </a:t>
            </a:r>
            <a:r>
              <a:rPr lang="en-US" sz="2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zł</a:t>
            </a:r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l-PL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38926"/>
      </p:ext>
    </p:extLst>
  </p:cSld>
  <p:clrMapOvr>
    <a:masterClrMapping/>
  </p:clrMapOvr>
</p:sld>
</file>

<file path=ppt/theme/theme1.xml><?xml version="1.0" encoding="utf-8"?>
<a:theme xmlns:a="http://schemas.openxmlformats.org/drawingml/2006/main" name="Dywidenda">
  <a:themeElements>
    <a:clrScheme name="Dywidenda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ywidenda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ywidenda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TM03457464[[fn=Dywidenda]]</Template>
  <TotalTime>229</TotalTime>
  <Words>563</Words>
  <Application>Microsoft Office PowerPoint</Application>
  <PresentationFormat>Panoramiczny</PresentationFormat>
  <Paragraphs>119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9" baseType="lpstr">
      <vt:lpstr>Arial</vt:lpstr>
      <vt:lpstr>Gill Sans MT</vt:lpstr>
      <vt:lpstr>Wingdings 2</vt:lpstr>
      <vt:lpstr>Dywidenda</vt:lpstr>
      <vt:lpstr>Komputer pc chłodzony pasywnie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Oskar Górczyński</dc:creator>
  <cp:lastModifiedBy>Oskar Górczyński</cp:lastModifiedBy>
  <cp:revision>5</cp:revision>
  <dcterms:created xsi:type="dcterms:W3CDTF">2025-10-11T19:02:27Z</dcterms:created>
  <dcterms:modified xsi:type="dcterms:W3CDTF">2025-10-12T10:06:33Z</dcterms:modified>
</cp:coreProperties>
</file>